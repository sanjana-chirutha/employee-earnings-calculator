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583680"/>
            <a:ext cx="11825935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60196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Sanjana Chirutha (STU ID: STU6817962b86d921746376235)  |  Edunet Foundation  |  AICTE  |  IBM SkillsBuild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edunet foundation   |   AICTE   |   IBM SkillsBuild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3A8A"/>
                </a:solidFill>
              </a:defRPr>
            </a:pPr>
            <a:r>
              <a:t>Certificate of Completion &amp; Internship Project</a:t>
            </a:r>
          </a:p>
          <a:p>
            <a:pPr algn="ctr">
              <a:defRPr sz="2000">
                <a:solidFill>
                  <a:srgbClr val="475569"/>
                </a:solidFill>
              </a:defRPr>
            </a:pPr>
            <a:r>
              <a:t>Employee Earnings Calculator (ML-Powered Salary Intelligence)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108960"/>
            <a:ext cx="4754880" cy="29260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29184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F172A"/>
                </a:solidFill>
              </a:rPr>
              <a:t>Student Name: </a:t>
            </a:r>
            <a:r>
              <a:rPr sz="1300">
                <a:solidFill>
                  <a:srgbClr val="1E3A8A"/>
                </a:solidFill>
              </a:rPr>
              <a:t>Sanjana Chirutha</a:t>
            </a:r>
          </a:p>
          <a:p>
            <a:r>
              <a:rPr b="1" sz="1300">
                <a:solidFill>
                  <a:srgbClr val="0F172A"/>
                </a:solidFill>
              </a:rPr>
              <a:t>Student STU ID: </a:t>
            </a:r>
            <a:r>
              <a:rPr sz="1300">
                <a:solidFill>
                  <a:srgbClr val="1E3A8A"/>
                </a:solidFill>
              </a:rPr>
              <a:t>STU6817962b86d921746376235</a:t>
            </a:r>
          </a:p>
          <a:p>
            <a:r>
              <a:rPr b="1" sz="1300">
                <a:solidFill>
                  <a:srgbClr val="0F172A"/>
                </a:solidFill>
              </a:rPr>
              <a:t>Program: </a:t>
            </a:r>
            <a:r>
              <a:rPr sz="1300">
                <a:solidFill>
                  <a:srgbClr val="1E3A8A"/>
                </a:solidFill>
              </a:rPr>
              <a:t>6 Weeks Virtual Internship on AI &amp; ML</a:t>
            </a:r>
          </a:p>
          <a:p>
            <a:r>
              <a:rPr b="1" sz="1300">
                <a:solidFill>
                  <a:srgbClr val="0F172A"/>
                </a:solidFill>
              </a:rPr>
              <a:t>Internship Period: </a:t>
            </a:r>
            <a:r>
              <a:rPr sz="1300">
                <a:solidFill>
                  <a:srgbClr val="1E3A8A"/>
                </a:solidFill>
              </a:rPr>
              <a:t>18/06/2025 – 30/07/2025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08960"/>
            <a:ext cx="4754880" cy="29260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F172A"/>
                </a:solidFill>
              </a:rPr>
              <a:t>Implementing Org: </a:t>
            </a:r>
            <a:r>
              <a:rPr sz="1300">
                <a:solidFill>
                  <a:srgbClr val="1E3A8A"/>
                </a:solidFill>
              </a:rPr>
              <a:t>Edunet Foundation</a:t>
            </a:r>
          </a:p>
          <a:p>
            <a:r>
              <a:rPr b="1" sz="1300">
                <a:solidFill>
                  <a:srgbClr val="0F172A"/>
                </a:solidFill>
              </a:rPr>
              <a:t>Collaborator: </a:t>
            </a:r>
            <a:r>
              <a:rPr sz="1300">
                <a:solidFill>
                  <a:srgbClr val="1E3A8A"/>
                </a:solidFill>
              </a:rPr>
              <a:t>AICTE</a:t>
            </a:r>
          </a:p>
          <a:p>
            <a:r>
              <a:rPr b="1" sz="1300">
                <a:solidFill>
                  <a:srgbClr val="0F172A"/>
                </a:solidFill>
              </a:rPr>
              <a:t>Technology Partner: </a:t>
            </a:r>
            <a:r>
              <a:rPr sz="1300">
                <a:solidFill>
                  <a:srgbClr val="1E3A8A"/>
                </a:solidFill>
              </a:rPr>
              <a:t>IBM SkillsBuild</a:t>
            </a:r>
          </a:p>
          <a:p>
            <a:r>
              <a:rPr b="1" sz="1300">
                <a:solidFill>
                  <a:srgbClr val="0F172A"/>
                </a:solidFill>
              </a:rPr>
              <a:t>Signatory Chairman: </a:t>
            </a:r>
            <a:r>
              <a:rPr sz="1300">
                <a:solidFill>
                  <a:srgbClr val="1E3A8A"/>
                </a:solidFill>
              </a:rPr>
              <a:t>Nagesh Singh (Edunet Foundation)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583680"/>
            <a:ext cx="11825935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Helvetica"/>
              </a:defRPr>
            </a:pPr>
            <a:r>
              <a:t>Organization &amp; Program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</a:defRPr>
            </a:pPr>
            <a:r>
              <a:t>Slide 02/13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Sanjana Chirutha (STU ID: STU6817962b86d921746376235)  |  Edunet Foundation  |  AICTE  |  IBM SkillsBuild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Collaborating Bodies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Edunet Foundation: Primary implementing organization leading youth digital skill development.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AICTE (All India Council for Technical Education): Statutory body enabling national technical education standards.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IBM SkillsBuild: Industry technology partner providing practical AI &amp; ML learning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Project Objectives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Problem: Corporate salary estimation is manual, unstandardized, and black-box.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Goal: Build a multi-variate ML regression pipeline predicting annual employee salaries with &gt;95% accuracy.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Deliverables: Full ML model serialized with Joblib, interactive Glassmorphism UI, SHAP explainability waterfall, multi-currency support ($ USD, € EUR, £ GBP, ₹ INR), and batch CSV predictions.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583680"/>
            <a:ext cx="11825935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Helvetica"/>
              </a:defRPr>
            </a:pPr>
            <a:r>
              <a:t>Key Features &amp; Core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</a:defRPr>
            </a:pPr>
            <a:r>
              <a:t>Slide 03/13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Sanjana Chirutha (STU ID: STU6817962b86d921746376235)  |  Edunet Foundation  |  AICTE  |  IBM SkillsBuild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E3A8A"/>
                </a:solidFill>
              </a:rPr>
              <a:t>Interactive Predictor: </a:t>
            </a:r>
            <a:r>
              <a:rPr sz="1300">
                <a:solidFill>
                  <a:srgbClr val="0F172A"/>
                </a:solidFill>
              </a:rPr>
              <a:t>Dynamic slider and dropdown controls with instant prediction updates (&lt;15 ms latency).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59152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E3A8A"/>
                </a:solidFill>
              </a:rPr>
              <a:t>SHAP Attribution: </a:t>
            </a:r>
            <a:r>
              <a:rPr sz="1300">
                <a:solidFill>
                  <a:srgbClr val="0F172A"/>
                </a:solidFill>
              </a:rPr>
              <a:t>Visual breakdown showing exact monetary additions (+) or deductions (-) relative to baseline.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38144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E3A8A"/>
                </a:solidFill>
              </a:rPr>
              <a:t>Career Optimizer: </a:t>
            </a:r>
            <a:r>
              <a:rPr sz="1300">
                <a:solidFill>
                  <a:srgbClr val="0F172A"/>
                </a:solidFill>
              </a:rPr>
              <a:t>AI sensitivity recommendations engine providing actionable advice to boost earning potential.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34256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25696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E3A8A"/>
                </a:solidFill>
              </a:rPr>
              <a:t>Batch CSV Processing: </a:t>
            </a:r>
            <a:r>
              <a:rPr sz="1300">
                <a:solidFill>
                  <a:srgbClr val="0F172A"/>
                </a:solidFill>
              </a:rPr>
              <a:t>Bulk upload employee records via drag-and-drop CSV parser with downloadable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21808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1324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E3A8A"/>
                </a:solidFill>
              </a:rPr>
              <a:t>Multi-Currency: </a:t>
            </a:r>
            <a:r>
              <a:rPr sz="1300">
                <a:solidFill>
                  <a:srgbClr val="0F172A"/>
                </a:solidFill>
              </a:rPr>
              <a:t>Live currency conversion supporting USD ($), EUR (€), GBP (£), and INR (₹).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583680"/>
            <a:ext cx="11825935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Helvetica"/>
              </a:defRPr>
            </a:pPr>
            <a:r>
              <a:t>Machine Learning Pipeline &amp;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</a:defRPr>
            </a:pPr>
            <a:r>
              <a:t>Slide 04/13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Sanjana Chirutha (STU ID: STU6817962b86d921746376235)  |  Edunet Foundation  |  AICTE  |  IBM SkillsBuild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92024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737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01. Ingestion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10,000+ Cleaned Profiles from UCI &amp; BLS Benchmarks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463040"/>
            <a:ext cx="192024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645920"/>
            <a:ext cx="1737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02. Encoding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LabelEncoder for Categoricals (Education, Occupation, Region)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463040"/>
            <a:ext cx="192024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1645920"/>
            <a:ext cx="1737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03. Scaling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MinMaxScaler for Numericals (Age, Experience, Hours)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463040"/>
            <a:ext cx="192024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645920"/>
            <a:ext cx="1737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04. Training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Gradient Boosting &amp; XGBoost Regressor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463040"/>
            <a:ext cx="192024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645920"/>
            <a:ext cx="1737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05. Export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Joblib Serialization (.joblib Artifacts)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583680"/>
            <a:ext cx="11825935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Helvetica"/>
              </a:defRPr>
            </a:pPr>
            <a:r>
              <a:t>Model Performance &amp; Quantitative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</a:defRPr>
            </a:pPr>
            <a:r>
              <a:t>Slide 05/13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Sanjana Chirutha (STU ID: STU6817962b86d921746376235)  |  Edunet Foundation  |  AICTE  |  IBM SkillsBuild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</a:defRPr>
            </a:pPr>
            <a:r>
              <a:t>98.00%</a:t>
            </a:r>
          </a:p>
          <a:p>
            <a:pPr algn="ctr">
              <a:defRPr sz="1500">
                <a:solidFill>
                  <a:srgbClr val="0F172A"/>
                </a:solidFill>
              </a:defRPr>
            </a:pPr>
            <a:r>
              <a:t>Model Accuracy (R² Score)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</a:defRPr>
            </a:pPr>
            <a:r>
              <a:t>$3,523.39</a:t>
            </a:r>
          </a:p>
          <a:p>
            <a:pPr algn="ctr">
              <a:defRPr sz="1500">
                <a:solidFill>
                  <a:srgbClr val="0F172A"/>
                </a:solidFill>
              </a:defRPr>
            </a:pPr>
            <a:r>
              <a:t>Root Mean Squared Error (RMSE)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4846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</a:defRPr>
            </a:pPr>
            <a:r>
              <a:t>&lt; 15 ms</a:t>
            </a:r>
          </a:p>
          <a:p>
            <a:pPr algn="ctr">
              <a:defRPr sz="1500">
                <a:solidFill>
                  <a:srgbClr val="0F172A"/>
                </a:solidFill>
              </a:defRPr>
            </a:pPr>
            <a:r>
              <a:t>Inference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120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4846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</a:defRPr>
            </a:pPr>
            <a:r>
              <a:t>10,000</a:t>
            </a:r>
          </a:p>
          <a:p>
            <a:pPr algn="ctr">
              <a:defRPr sz="1500">
                <a:solidFill>
                  <a:srgbClr val="0F172A"/>
                </a:solidFill>
              </a:defRPr>
            </a:pPr>
            <a:r>
              <a:t>Cleaned Training Profiles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583680"/>
            <a:ext cx="11825935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Helvetica"/>
              </a:defRPr>
            </a:pPr>
            <a:r>
              <a:t>Live System Test Results &amp; Output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</a:defRPr>
            </a:pPr>
            <a:r>
              <a:t>Slide 06/13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Sanjana Chirutha (STU ID: STU6817962b86d921746376235)  |  Edunet Foundation  |  AICTE  |  IBM SkillsBuild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1645920"/>
          </a:xfrm>
          <a:prstGeom prst="roundRect">
            <a:avLst/>
          </a:prstGeom>
          <a:solidFill>
            <a:srgbClr val="E0F2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8A"/>
                </a:solidFill>
              </a:defRPr>
            </a:pPr>
            <a:r>
              <a:t>Candidate Annual Salary Prediction:  ₹ 13,555,746 / yr</a:t>
            </a:r>
          </a:p>
          <a:p>
            <a:pPr algn="ctr">
              <a:defRPr sz="1500">
                <a:solidFill>
                  <a:srgbClr val="0F172A"/>
                </a:solidFill>
              </a:defRPr>
            </a:pPr>
            <a:r>
              <a:t>Monthly Take-Home: ₹ 1,129,646 / mo   |   Hourly Rate: ₹ 6,517.19 / hr   |   Earning Percentile: Top 21%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120640" cy="27432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Test Profile Parameters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Age / Exp: 20 yrs old | 2 yrs Work Experience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Education: Master's Degree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Occupation: Data Science &amp; AI / ML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Work Mode / Size: Fully Remote | Mid-Size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Market Benchmark: Global Remote Benchmark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91840"/>
            <a:ext cx="5212080" cy="27432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Model Confidence &amp; Impact Drivers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95% Confidence Min: ₹ 11,115,712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95% Confidence Max: ₹ 16,538,010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Primary Key Driver: Occupation Level (+₹ 4,008,000)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Experience Trajectory: Non-linear logarithmic growth curve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Radar Benchmark: High Edu Impact &amp; Market Location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583680"/>
            <a:ext cx="11825935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Helvetica"/>
              </a:defRPr>
            </a:pPr>
            <a:r>
              <a:t>Explainable AI &amp; SHAP Feature Attribution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</a:defRPr>
            </a:pPr>
            <a:r>
              <a:t>Slide 07/13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Sanjana Chirutha (STU ID: STU6817962b86d921746376235)  |  Edunet Foundation  |  AICTE  |  IBM SkillsBuild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Feature Monetary Attribution Model Formulation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Baseline Market Reference Salary: $24,000 baseline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Education Multiplier: High School ($0) -&gt; Bachelor's (+$14k) -&gt; Master's (+$26k) -&gt; Doctorate (+$40k)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Occupation Tier: Software Eng / AI (+$22k - $25k), Management (+$28k), Finance (+$24k)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Experience Curve: Logarithmic acceleration scaling up to 15 years, then leveling smoothly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Regional Market Tier: Tier 1 Hub (+18%), Tier 2 (+2%), Tier 3 (-12%)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583680"/>
            <a:ext cx="11825935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Helvetica"/>
              </a:defRPr>
            </a:pPr>
            <a:r>
              <a:t>Technology Stack &amp; Architecture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</a:defRPr>
            </a:pPr>
            <a:r>
              <a:t>Slide 08/13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Sanjana Chirutha (STU ID: STU6817962b86d921746376235)  |  Edunet Foundation  |  AICTE  |  IBM SkillsBuild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Machine Learning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Python 3.12, Scikit-Learn, XGBoost, Pandas, NumPy, Joblib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6984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Web Application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HTML5, Custom Glassmorphism CSS3, JavaScript (ES6+), Chart.js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6984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Deployment &amp; Hosting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Git, GitHub Pages, Local HTTP Server, Streamlit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583680"/>
            <a:ext cx="11825935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Helvetica"/>
              </a:defRPr>
            </a:pPr>
            <a:r>
              <a:t>User Interface &amp; Glassmorphism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</a:defRPr>
            </a:pPr>
            <a:r>
              <a:t>Slide 09/13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Sanjana Chirutha (STU ID: STU6817962b86d921746376235)  |  Edunet Foundation  |  AICTE  |  IBM SkillsBuild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Glassmorphism Design System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Frosted Glass Cards: Multi-layered backdrop blur (backdrop-filter: blur(16px)) with glowing glass borders.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Color Palette: Deep dark background (#090d16), vibrant neon accents (#6366f1 Indigo, #10b981 Emerald, #ec4899 Pink).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Typography: Google Fonts (Outfit headings &amp; Plus Jakarta Sans body text).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Micro-Interactions: Animated number counter on prediction updates, smooth range slider thumbs, glowing metric pills.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Responsive Layout: Custom CSS grid adapting seamlessly across Mobile, Tablet, and Desktop displays.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583680"/>
            <a:ext cx="11825935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Helvetica"/>
              </a:defRPr>
            </a:pPr>
            <a:r>
              <a:t>Batch CSV Prediction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</a:defRPr>
            </a:pPr>
            <a:r>
              <a:t>Slide 10/13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Sanjana Chirutha (STU ID: STU6817962b86d921746376235)  |  Edunet Foundation  |  AICTE  |  IBM SkillsBuild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Bulk Prediction Workflow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Client-Side Parser: Processes CSV files directly in browser without server upload latency.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Bulk Processing: Computes predictions for hundreds of employee records in &lt;50 ms.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Summary Metrics: Displays real-time average salary metrics and processed record count.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Data Export: One-click export of batch prediction results to downloadable formatted CSV file.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583680"/>
            <a:ext cx="11825935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Helvetica"/>
              </a:defRPr>
            </a:pPr>
            <a:r>
              <a:t>Engineering 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</a:defRPr>
            </a:pPr>
            <a:r>
              <a:t>Slide 11/13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Sanjana Chirutha (STU ID: STU6817962b86d921746376235)  |  Edunet Foundation  |  AICTE  |  IBM SkillsBuild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Key Engineering Problems Solved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Non-Linear Salary Decay Curve: Applied logarithmic experience scaling function to model real-world career plateauing.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Asynchronous Rendering Sync: Refactored JS execution order to compute predictions before chart initialization with fallback HTML numbers.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Cross-Platform Encoding: Resolved Windows terminal UTF-8 print stream encoding issues during model serialization.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583680"/>
            <a:ext cx="11825935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Helvetica"/>
              </a:defRPr>
            </a:pPr>
            <a:r>
              <a:t>Key Internship Outcomes &amp; Skills Gained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</a:defRPr>
            </a:pPr>
            <a:r>
              <a:t>Slide 12/13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Sanjana Chirutha (STU ID: STU6817962b86d921746376235)  |  Edunet Foundation  |  AICTE  |  IBM SkillsBuild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Learnings &amp; Technical Competencies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Hands-on mastery of multi-variate Machine Learning Regression and Joblib serialization.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Practical application of AI/ML concepts learned during Edunet Foundation &amp; IBM SkillsBuild internship.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Front-end UI/UX architecture using modern CSS glassmorphism design tokens and Chart.js integration.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✦ Version control, GitHub workflow execution, and cloud static hosting on GitHub Pages.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583680"/>
            <a:ext cx="11825935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60196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Sanjana Chirutha (STU ID: STU6817962b86d921746376235)  |  Edunet Foundation  |  AICTE  |  IBM SkillsBuild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A8A"/>
                </a:solidFill>
              </a:defRPr>
            </a:pPr>
            <a:r>
              <a:t>Thank You!</a:t>
            </a:r>
          </a:p>
          <a:p>
            <a:pPr algn="ctr">
              <a:defRPr sz="2000">
                <a:solidFill>
                  <a:srgbClr val="475569"/>
                </a:solidFill>
              </a:defRPr>
            </a:pPr>
            <a:r>
              <a:t>Questions &amp; Feedback Are Welcome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91840"/>
            <a:ext cx="438912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47472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F172A"/>
                </a:solidFill>
              </a:rPr>
              <a:t>Student Name: </a:t>
            </a:r>
            <a:r>
              <a:rPr sz="1300">
                <a:solidFill>
                  <a:srgbClr val="1E3A8A"/>
                </a:solidFill>
              </a:rPr>
              <a:t>Sanjana Chirutha</a:t>
            </a:r>
          </a:p>
          <a:p>
            <a:r>
              <a:rPr b="1" sz="1300">
                <a:solidFill>
                  <a:srgbClr val="0F172A"/>
                </a:solidFill>
              </a:rPr>
              <a:t>STU ID: </a:t>
            </a:r>
            <a:r>
              <a:rPr sz="1300">
                <a:solidFill>
                  <a:srgbClr val="1E3A8A"/>
                </a:solidFill>
              </a:rPr>
              <a:t>STU6817962b86d921746376235</a:t>
            </a:r>
          </a:p>
          <a:p>
            <a:r>
              <a:rPr b="1" sz="1300">
                <a:solidFill>
                  <a:srgbClr val="0F172A"/>
                </a:solidFill>
              </a:rPr>
              <a:t>Internship Period: </a:t>
            </a:r>
            <a:r>
              <a:rPr sz="1300">
                <a:solidFill>
                  <a:srgbClr val="1E3A8A"/>
                </a:solidFill>
              </a:rPr>
              <a:t>18/06/2025 – 30/07/2025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91840"/>
            <a:ext cx="438912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47472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F172A"/>
                </a:solidFill>
              </a:rPr>
              <a:t>GitHub Repo: </a:t>
            </a:r>
            <a:r>
              <a:rPr sz="1300">
                <a:solidFill>
                  <a:srgbClr val="1E3A8A"/>
                </a:solidFill>
              </a:rPr>
              <a:t>github.com/Sanjana-Chirutha</a:t>
            </a:r>
          </a:p>
          <a:p>
            <a:r>
              <a:rPr b="1" sz="1300">
                <a:solidFill>
                  <a:srgbClr val="0F172A"/>
                </a:solidFill>
              </a:rPr>
              <a:t>Live Web App: </a:t>
            </a:r>
            <a:r>
              <a:rPr sz="1300">
                <a:solidFill>
                  <a:srgbClr val="1E3A8A"/>
                </a:solidFill>
              </a:rPr>
              <a:t>sanjana-chirutha.github.io</a:t>
            </a:r>
          </a:p>
          <a:p>
            <a:r>
              <a:rPr b="1" sz="1300">
                <a:solidFill>
                  <a:srgbClr val="0F172A"/>
                </a:solidFill>
              </a:rPr>
              <a:t>Organisations: </a:t>
            </a:r>
            <a:r>
              <a:rPr sz="1300">
                <a:solidFill>
                  <a:srgbClr val="1E3A8A"/>
                </a:solidFill>
              </a:rPr>
              <a:t>Edunet | AICTE | IBM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