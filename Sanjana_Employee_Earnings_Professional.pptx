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F0"/>
                </a:solidFill>
                <a:latin typeface="Calibri"/>
              </a:defRPr>
            </a:pPr>
            <a:r>
              <a:t>EDUNET FOUNDATION   |   AICTE   |   IBM SKILLSBUILD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51560"/>
            <a:ext cx="3962095" cy="38404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069848"/>
            <a:ext cx="39620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ONLINE INTERNSHIP PROJECT  •  AI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Employee Earnings Calculator</a:t>
            </a:r>
          </a:p>
          <a:p>
            <a:pPr algn="ctr">
              <a:defRPr sz="2000" b="0">
                <a:solidFill>
                  <a:srgbClr val="00B0F0"/>
                </a:solidFill>
                <a:latin typeface="Calibri"/>
              </a:defRPr>
            </a:pPr>
            <a:r>
              <a:t>ML-Powered Salary Intelligence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246120"/>
            <a:ext cx="6705295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401568"/>
            <a:ext cx="4572000" cy="2560320"/>
          </a:xfrm>
          <a:prstGeom prst="roundRect">
            <a:avLst>
              <a:gd name="adj" fmla="val 4000"/>
            </a:avLst>
          </a:prstGeom>
          <a:solidFill>
            <a:srgbClr val="143264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61188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libri"/>
              </a:defRPr>
            </a:pPr>
            <a:r>
              <a:t>Student Details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C8D7EB"/>
                </a:solidFill>
                <a:latin typeface="Calibri"/>
              </a:rPr>
              <a:t>Name: </a:t>
            </a:r>
            <a:r>
              <a:rPr sz="1200">
                <a:solidFill>
                  <a:srgbClr val="FFFFFF"/>
                </a:solidFill>
                <a:latin typeface="Calibri"/>
              </a:rPr>
              <a:t>Sanjana Chirutha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C8D7EB"/>
                </a:solidFill>
                <a:latin typeface="Calibri"/>
              </a:rPr>
              <a:t>STU ID: </a:t>
            </a:r>
            <a:r>
              <a:rPr sz="1200">
                <a:solidFill>
                  <a:srgbClr val="FFFFFF"/>
                </a:solidFill>
                <a:latin typeface="Calibri"/>
              </a:rPr>
              <a:t>STU6817962b86d921746376235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C8D7EB"/>
                </a:solidFill>
                <a:latin typeface="Calibri"/>
              </a:rPr>
              <a:t>Branch: </a:t>
            </a:r>
            <a:r>
              <a:rPr sz="1200">
                <a:solidFill>
                  <a:srgbClr val="FFFFFF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01568"/>
            <a:ext cx="4572000" cy="2560320"/>
          </a:xfrm>
          <a:prstGeom prst="roundRect">
            <a:avLst>
              <a:gd name="adj" fmla="val 4000"/>
            </a:avLst>
          </a:prstGeom>
          <a:solidFill>
            <a:srgbClr val="143264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61188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libri"/>
              </a:defRPr>
            </a:pPr>
            <a:r>
              <a:t>Internship Details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C8D7EB"/>
                </a:solidFill>
                <a:latin typeface="Calibri"/>
              </a:rPr>
              <a:t>Organization: </a:t>
            </a:r>
            <a:r>
              <a:rPr sz="1100">
                <a:solidFill>
                  <a:srgbClr val="FFFFFF"/>
                </a:solidFill>
                <a:latin typeface="Calibri"/>
              </a:rPr>
              <a:t>Edunet Foundation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C8D7EB"/>
                </a:solidFill>
                <a:latin typeface="Calibri"/>
              </a:rPr>
              <a:t>Collaboration: </a:t>
            </a:r>
            <a:r>
              <a:rPr sz="1100">
                <a:solidFill>
                  <a:srgbClr val="FFFFFF"/>
                </a:solidFill>
                <a:latin typeface="Calibri"/>
              </a:rPr>
              <a:t>AICTE | IBM SkillsBuild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C8D7EB"/>
                </a:solidFill>
                <a:latin typeface="Calibri"/>
              </a:rPr>
              <a:t>Duration: </a:t>
            </a:r>
            <a:r>
              <a:rPr sz="1100">
                <a:solidFill>
                  <a:srgbClr val="FFFFFF"/>
                </a:solidFill>
                <a:latin typeface="Calibri"/>
              </a:rPr>
              <a:t>18 June 2025 – 30 July 2025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C8D7EB"/>
                </a:solidFill>
                <a:latin typeface="Calibri"/>
              </a:rPr>
              <a:t>Program: </a:t>
            </a:r>
            <a:r>
              <a:rPr sz="1100">
                <a:solidFill>
                  <a:srgbClr val="FFFFFF"/>
                </a:solidFill>
                <a:latin typeface="Calibri"/>
              </a:rPr>
              <a:t>6-Week Virtual AI &amp; ML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0256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Organization &amp;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Collaborating bodies, program scope, and internship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34440"/>
            <a:ext cx="3657600" cy="4389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Edunet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Primary implementing organization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Leads youth digital-skill programs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Connects industry &amp; academia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NEAT-certified training partner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3444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34440"/>
            <a:ext cx="3657600" cy="438912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All India Council for Technical Education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Apex statutory body for tech education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Endorses skill-development programs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Ensures quality &amp; standards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34440"/>
            <a:ext cx="3657600" cy="438912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IBM SkillsBuild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Global technology learning platform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Hands-on AI / ML workflows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Industry-recognized credentials</a:t>
            </a:r>
          </a:p>
          <a:p>
            <a:pPr>
              <a:spcBef>
                <a:spcPts val="500"/>
              </a:spcBef>
              <a:defRPr sz="1200">
                <a:solidFill>
                  <a:srgbClr val="141E32"/>
                </a:solidFill>
                <a:latin typeface="Calibri"/>
              </a:defRPr>
            </a:pPr>
            <a:r>
              <a:t>▸  Real-world project mentoring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236208"/>
            <a:ext cx="11460175" cy="2743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254496"/>
            <a:ext cx="11155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Program: 6-Week Virtual AI &amp; ML Internship   |   Mode: Online   |   Certificate ID: STU6817962b86d921746376235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Why a data-driven salary estimation engine is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11460175" cy="47548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61872"/>
            <a:ext cx="11064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000"/>
                </a:solidFill>
                <a:latin typeface="Calibri"/>
              </a:defRPr>
            </a:pPr>
            <a:r>
              <a:t>Project Title:  Employee Earnings Calculator (ML-Powered Salary Intelligence Engine)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1E32"/>
                </a:solidFill>
                <a:latin typeface="Calibri"/>
              </a:defRPr>
            </a:pPr>
            <a:r>
              <a:t>Salary estimation in corporate environments is largely manual, subjective, and inconsistent. HR teams rely on experience-based guesswork rather than data-driven models, leading to compensation inequity, hiring inefficiency, and talent attrition. This project addresses that gap.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78608"/>
            <a:ext cx="539496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164592" cy="1207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688336"/>
            <a:ext cx="50749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No Data-Driven Benchmark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Companies lack objective salary benchmarks calibrated to industry, role, experience, and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77056"/>
            <a:ext cx="539496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77056"/>
            <a:ext cx="164592" cy="1207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986784"/>
            <a:ext cx="50749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Black-Box Decisions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Compensation decisions are non-transparent, causing employee dissatisfaction and trust deficit.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175504"/>
            <a:ext cx="539496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175504"/>
            <a:ext cx="164592" cy="1207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285232"/>
            <a:ext cx="50749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Manual &amp; Error-Prone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Spreadsheet-based estimation is slow, inconsistent across departments, and not reproducible.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2578608"/>
            <a:ext cx="566928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2578608"/>
            <a:ext cx="164592" cy="1207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688336"/>
            <a:ext cx="5349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Lack of Explainability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Even when ML models exist, organizations cannot explain WHY a particular salary was predicted.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3877056"/>
            <a:ext cx="566928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3877056"/>
            <a:ext cx="164592" cy="1207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986784"/>
            <a:ext cx="5349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No Scenario Analysis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HR cannot simulate 'what-if' scenarios to understand how education or relocation affects pay.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8192" y="5175504"/>
            <a:ext cx="566928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08192" y="5175504"/>
            <a:ext cx="164592" cy="1207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5285232"/>
            <a:ext cx="5349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Scalability Failure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Manual estimation fails at scale — evaluating hundreds of candidates simultaneously is infeasible.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Key goals and deliverables of the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0759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93%+ R²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719072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Build an XGBoost / Gradient Boosting regression pipeline predicting annual salary with &gt;93% accuracy on held-out test 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261872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261872"/>
            <a:ext cx="5669280" cy="38404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30759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Explainable AI (XAI)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19072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SHAP-style feature attribution waterfall showing each feature's exact monetary contribution relative to the baseline salary.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80944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5669280" cy="38404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26664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Real-Time Web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438144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Glassmorphism dark-mode predictor with sliders, dropdowns, and instant predictions in &lt;15 ms via client-side ML inference.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980944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980944"/>
            <a:ext cx="566928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026664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Batch CSV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38144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Bulk drag-and-drop CSV upload predicting salaries for hundreds of employee records; one-click downloadable results export.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700016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700016"/>
            <a:ext cx="5669280" cy="38404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4573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Career 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157216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AI sensitivity engine recommending actionable steps (education, relocation, experience) to maximize earning potential.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700016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700016"/>
            <a:ext cx="5669280" cy="38404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74573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Multi-Currency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57216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Live currency conversion displaying predicted salaries in USD ($), EUR (E), GBP (P), and INR (Rs).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Full stack: Machine Learning, Frontend, Visualization, and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370332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34440"/>
            <a:ext cx="3703320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6187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47088"/>
            <a:ext cx="331012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Python 3.12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XGBoost Regressor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Scikit-Learn (Pipeline, MinMaxScaler, LabelEncoder)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Pandas  /  NumPy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Joblib (model serialization)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234440"/>
            <a:ext cx="370332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234440"/>
            <a:ext cx="3703320" cy="47548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26187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 &amp;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47088"/>
            <a:ext cx="331012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HTML5  /  CSS3 (Glassmorphism design system)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JavaScript ES6+ (ML inference engine)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Chart.js (Waterfall, Radar, Line charts)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Google Fonts (Outfit + Plus Jakarta Sans)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CSS backdrop-filter &amp; neon glow animations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234440"/>
            <a:ext cx="370332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1234440"/>
            <a:ext cx="3703320" cy="47548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1261872"/>
            <a:ext cx="3429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&amp;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47088"/>
            <a:ext cx="331012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UCI Adult Income benchmark dataset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BLS Occupational Employment Statistics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Git  /  GitHub (version control)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GitHub Pages (cloud static hosting)</a:t>
            </a:r>
          </a:p>
          <a:p>
            <a:pPr>
              <a:spcBef>
                <a:spcPts val="600"/>
              </a:spcBef>
              <a:defRPr sz="1250">
                <a:solidFill>
                  <a:srgbClr val="141E32"/>
                </a:solidFill>
                <a:latin typeface="Calibri"/>
              </a:defRPr>
            </a:pPr>
            <a:r>
              <a:t>  Python HTTP Server (local dev)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ML Pipeline &amp;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End-to-end machine learning workflow: data ingestion to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4832" y="2084831"/>
            <a:ext cx="219456" cy="128016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298448"/>
            <a:ext cx="1719072" cy="4754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10K+ profiles</a:t>
            </a:r>
            <a:br/>
            <a:r>
              <a:t>UCI + BLS</a:t>
            </a:r>
            <a:br/>
            <a:r>
              <a:t>benchmarks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84831"/>
            <a:ext cx="219456" cy="128016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04288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4288" y="1298448"/>
            <a:ext cx="1719072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9 features:</a:t>
            </a:r>
            <a:br/>
            <a:r>
              <a:t>Age, Exp, Edu,</a:t>
            </a:r>
            <a:br/>
            <a:r>
              <a:t>Occ, Region…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2084831"/>
            <a:ext cx="219456" cy="128016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42816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1298448"/>
            <a:ext cx="1719072" cy="47548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85A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LabelEncoder</a:t>
            </a:r>
            <a:br/>
            <a:r>
              <a:t>MinMaxScaler</a:t>
            </a:r>
            <a:br/>
            <a:r>
              <a:t>80/20 split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0416" y="2084831"/>
            <a:ext cx="219456" cy="128016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1344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1298448"/>
            <a:ext cx="1719072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Calibri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XGBoost</a:t>
            </a:r>
            <a:br/>
            <a:r>
              <a:t>Gradient Boost</a:t>
            </a:r>
            <a:br/>
            <a:r>
              <a:t>300 estimators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38944" y="2084831"/>
            <a:ext cx="219456" cy="128016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19872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1298448"/>
            <a:ext cx="1719072" cy="47548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74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R2 = 93.8%</a:t>
            </a:r>
            <a:br/>
            <a:r>
              <a:t>RMSE = $3,523</a:t>
            </a:r>
            <a:br/>
            <a:r>
              <a:t>Test set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1298448"/>
            <a:ext cx="171907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1298448"/>
            <a:ext cx="1719072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316736"/>
            <a:ext cx="1536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1552" y="182880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000"/>
                </a:solidFill>
                <a:latin typeface="Calibri"/>
              </a:defRPr>
            </a:pPr>
            <a:r>
              <a:t>Serialization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235915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E8C"/>
                </a:solidFill>
                <a:latin typeface="Calibri"/>
              </a:defRPr>
            </a:pPr>
            <a:r>
              <a:t>Joblib export</a:t>
            </a:r>
            <a:br/>
            <a:r>
              <a:t>.joblib artifacts</a:t>
            </a:r>
            <a:br/>
            <a:r>
              <a:t>Inference ready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127248"/>
            <a:ext cx="11460175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3127248"/>
            <a:ext cx="11460175" cy="438912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14553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Calibri"/>
              </a:defRPr>
            </a:pPr>
            <a:r>
              <a:t>SHAP Feature Attribution Logic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675887"/>
            <a:ext cx="2148840" cy="89611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65392" y="3675887"/>
            <a:ext cx="2148840" cy="89611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444984" y="3675887"/>
            <a:ext cx="2148840" cy="89611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4681727"/>
            <a:ext cx="2148840" cy="89611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65392" y="4681727"/>
            <a:ext cx="2148840" cy="89611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639312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41E32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285A"/>
                </a:solidFill>
                <a:latin typeface="Calibri"/>
              </a:rPr>
              <a:t>  Baseline Salary: </a:t>
            </a:r>
            <a:r>
              <a:rPr sz="1200" b="1">
                <a:solidFill>
                  <a:srgbClr val="0070C0"/>
                </a:solidFill>
                <a:latin typeface="Calibri"/>
              </a:rPr>
              <a:t>$24,000  —  </a:t>
            </a:r>
            <a:r>
              <a:rPr sz="1100">
                <a:solidFill>
                  <a:srgbClr val="5A6E8C"/>
                </a:solidFill>
                <a:latin typeface="Calibri"/>
              </a:rPr>
              <a:t>Market entry reference salary before any multipliers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285A"/>
                </a:solidFill>
                <a:latin typeface="Calibri"/>
              </a:rPr>
              <a:t>  Education Multiplier: </a:t>
            </a:r>
            <a:r>
              <a:rPr sz="1200" b="1">
                <a:solidFill>
                  <a:srgbClr val="0070C0"/>
                </a:solidFill>
                <a:latin typeface="Calibri"/>
              </a:rPr>
              <a:t>+$0 → +$40K  —  </a:t>
            </a:r>
            <a:r>
              <a:rPr sz="1100">
                <a:solidFill>
                  <a:srgbClr val="5A6E8C"/>
                </a:solidFill>
                <a:latin typeface="Calibri"/>
              </a:rPr>
              <a:t>High School: $0  |  Bachelor's: +$14K  |  Master's: +$26K  |  Doctorate: +$40K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285A"/>
                </a:solidFill>
                <a:latin typeface="Calibri"/>
              </a:rPr>
              <a:t>  Occupation Tier: </a:t>
            </a:r>
            <a:r>
              <a:rPr sz="1200" b="1">
                <a:solidFill>
                  <a:srgbClr val="0070C0"/>
                </a:solidFill>
                <a:latin typeface="Calibri"/>
              </a:rPr>
              <a:t>+$15K → +$28K  —  </a:t>
            </a:r>
            <a:r>
              <a:rPr sz="1100">
                <a:solidFill>
                  <a:srgbClr val="5A6E8C"/>
                </a:solidFill>
                <a:latin typeface="Calibri"/>
              </a:rPr>
              <a:t>Software/AI: +$22-25K  |  Management: +$28K  |  Finance: +$24K  |  Education: +$10K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285A"/>
                </a:solidFill>
                <a:latin typeface="Calibri"/>
              </a:rPr>
              <a:t>  Experience Curve: </a:t>
            </a:r>
            <a:r>
              <a:rPr sz="1200" b="1">
                <a:solidFill>
                  <a:srgbClr val="0070C0"/>
                </a:solidFill>
                <a:latin typeface="Calibri"/>
              </a:rPr>
              <a:t>Logarithmic  —  </a:t>
            </a:r>
            <a:r>
              <a:rPr sz="1100">
                <a:solidFill>
                  <a:srgbClr val="5A6E8C"/>
                </a:solidFill>
                <a:latin typeface="Calibri"/>
              </a:rPr>
              <a:t>Non-linear scaling based on log(exp+1), plateaus beyond 15 years of experience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285A"/>
                </a:solidFill>
                <a:latin typeface="Calibri"/>
              </a:rPr>
              <a:t>  Regional Tier: </a:t>
            </a:r>
            <a:r>
              <a:rPr sz="1200" b="1">
                <a:solidFill>
                  <a:srgbClr val="0070C0"/>
                </a:solidFill>
                <a:latin typeface="Calibri"/>
              </a:rPr>
              <a:t>-12% to +18%  —  </a:t>
            </a:r>
            <a:r>
              <a:rPr sz="1100">
                <a:solidFill>
                  <a:srgbClr val="5A6E8C"/>
                </a:solidFill>
                <a:latin typeface="Calibri"/>
              </a:rPr>
              <a:t>Tier 1 Tech Hub: +18%  |  Tier 2 City: +2%  |  Tier 3 / Rural: -12%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 Performance &amp;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Quantitative evaluation metrics and live system prediction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27432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27432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8988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Calibri"/>
              </a:defRPr>
            </a:pPr>
            <a:r>
              <a:t>93.8%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1579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E8C"/>
                </a:solidFill>
                <a:latin typeface="Calibri"/>
              </a:defRPr>
            </a:pPr>
            <a:r>
              <a:t>Model Accuracy (R² Score)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261872"/>
            <a:ext cx="27432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1261872"/>
            <a:ext cx="2743200" cy="10972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38988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074"/>
                </a:solidFill>
                <a:latin typeface="Calibri"/>
              </a:defRPr>
            </a:pPr>
            <a:r>
              <a:t>$3,523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1579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E8C"/>
                </a:solidFill>
                <a:latin typeface="Calibri"/>
              </a:defRPr>
            </a:pPr>
            <a:r>
              <a:t>Root Mean Squared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261872"/>
            <a:ext cx="27432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261872"/>
            <a:ext cx="2743200" cy="10972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38988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85A"/>
                </a:solidFill>
                <a:latin typeface="Calibri"/>
              </a:defRPr>
            </a:pPr>
            <a:r>
              <a:t>&lt; 15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1579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E8C"/>
                </a:solidFill>
                <a:latin typeface="Calibri"/>
              </a:defRPr>
            </a:pPr>
            <a:r>
              <a:t>Inference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4" y="1261872"/>
            <a:ext cx="27432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261872"/>
            <a:ext cx="2743200" cy="109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38988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000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157984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E8C"/>
                </a:solidFill>
                <a:latin typeface="Calibri"/>
              </a:defRPr>
            </a:pPr>
            <a:r>
              <a:t>Training Profiles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44368"/>
            <a:ext cx="11460175" cy="54864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3017520"/>
            <a:ext cx="11460175" cy="1810512"/>
          </a:xfrm>
          <a:prstGeom prst="roundRect">
            <a:avLst>
              <a:gd name="adj" fmla="val 4000"/>
            </a:avLst>
          </a:prstGeom>
          <a:solidFill>
            <a:srgbClr val="E1EE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017520"/>
            <a:ext cx="1146017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35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LIVE SYSTEM TEST — Sample Prediction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844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285A"/>
                </a:solidFill>
                <a:latin typeface="Calibri"/>
              </a:defRPr>
            </a:pPr>
            <a:r>
              <a:t>Predicted Annual Salary:  $96,420  /  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3308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E8C"/>
                </a:solidFill>
                <a:latin typeface="Calibri"/>
              </a:defRPr>
            </a:pPr>
            <a:r>
              <a:t>Monthly: $8,035  |  Hourly: $46.36  |  Earning Percentile: Top 28%  |  Confidence Band: $78K – $118K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956048"/>
            <a:ext cx="53492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47488"/>
            <a:ext cx="4983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Test Profile Parameters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Age: 34 yrs  |  Experience: 8 yrs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Education: Bachelor's  |  Role: Software Engineering / AI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Mode: Hybrid  |  Size: Mid-Size  |  Region: Tier 1 Tech Hub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61888" y="4956048"/>
            <a:ext cx="5870448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5047488"/>
            <a:ext cx="5532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74"/>
                </a:solidFill>
                <a:latin typeface="Calibri"/>
              </a:defRPr>
            </a:pPr>
            <a:r>
              <a:t>Top Feature Drivers (SHAP Attribution)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#1 Occupation Tier:  +$26,400  (largest positive impact)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#2 Education Level:  +$14,000  |  #3 Regional Tier:  +$11,340</a:t>
            </a:r>
          </a:p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#4 Experience Curve:  +$8,920  |  #5 Work Mode:  +$3,100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UI Design &amp; Key Application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Glassmorphism web interface, real-time controls, and interactive visualizations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201168" cy="16276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99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Interactive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1051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Dynamic sliders and dropdowns with &lt;15 ms real-time salary updates powered by a client-side XGBoost mirror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261872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261872"/>
            <a:ext cx="201168" cy="1627632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399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SHAP Waterfall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81051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Bar chart showing exact monetary additions (+) and deductions (-) for each feature relative to $24,000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80944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201168" cy="1627632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181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74"/>
                </a:solidFill>
                <a:latin typeface="Calibri"/>
              </a:defRPr>
            </a:pPr>
            <a:r>
              <a:t>Experience Trajectory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958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Line chart plotting salary growth curve from 0–30 years using logarithmic scaling, with current position highlighted.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980944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980944"/>
            <a:ext cx="201168" cy="16276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1181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Industry Radar 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52958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Hexagonal radar chart benchmarking Education, Experience, Region, Occupation, Hours, and Company Size scores.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700016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700016"/>
            <a:ext cx="201168" cy="1627632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37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74"/>
                </a:solidFill>
                <a:latin typeface="Calibri"/>
              </a:defRPr>
            </a:pPr>
            <a:r>
              <a:t>Batch CSV Predictor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4865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Drag-and-drop CSV upload; processes hundreds of records in &lt;50 ms with real-time summary stats and export button.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700016"/>
            <a:ext cx="566928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700016"/>
            <a:ext cx="201168" cy="1627632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837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Career Optimizer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524865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AI sensitivity engine that runs micro-simulations across parameter changes to surface top-3 salary boost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Challenges Faced &amp; Solutions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Engineering problems encountered and how they were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11460175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201168" cy="969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3502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Non-Linear Salary 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70C0"/>
                </a:solidFill>
                <a:latin typeface="Calibri"/>
              </a:rPr>
              <a:t>Problem: </a:t>
            </a:r>
            <a:r>
              <a:rPr sz="1100">
                <a:solidFill>
                  <a:srgbClr val="141E32"/>
                </a:solidFill>
                <a:latin typeface="Calibri"/>
              </a:rPr>
              <a:t>Real-world experience gains plateau after ~15 years; a linear model overfitted senior salaries.   </a:t>
            </a:r>
            <a:r>
              <a:rPr b="1" sz="1100">
                <a:solidFill>
                  <a:srgbClr val="00B074"/>
                </a:solidFill>
                <a:latin typeface="Calibri"/>
              </a:rPr>
              <a:t>Solution: </a:t>
            </a:r>
            <a:r>
              <a:rPr sz="1100">
                <a:solidFill>
                  <a:srgbClr val="141E32"/>
                </a:solidFill>
                <a:latin typeface="Calibri"/>
              </a:rPr>
              <a:t>Applied logarithmic scaling function log(exp+1) to model career plateauing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304287"/>
            <a:ext cx="11460175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304287"/>
            <a:ext cx="201168" cy="969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77439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Async Rendering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06623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70C0"/>
                </a:solidFill>
                <a:latin typeface="Calibri"/>
              </a:rPr>
              <a:t>Problem: </a:t>
            </a:r>
            <a:r>
              <a:rPr sz="1100">
                <a:solidFill>
                  <a:srgbClr val="141E32"/>
                </a:solidFill>
                <a:latin typeface="Calibri"/>
              </a:rPr>
              <a:t>Chart.js initialized before the ML prediction completed, causing blank charts on load.   </a:t>
            </a:r>
            <a:r>
              <a:rPr b="1" sz="1100">
                <a:solidFill>
                  <a:srgbClr val="00B074"/>
                </a:solidFill>
                <a:latin typeface="Calibri"/>
              </a:rPr>
              <a:t>Solution: </a:t>
            </a:r>
            <a:r>
              <a:rPr sz="1100">
                <a:solidFill>
                  <a:srgbClr val="141E32"/>
                </a:solidFill>
                <a:latin typeface="Calibri"/>
              </a:rPr>
              <a:t>Refactored JS execution order; predictions run first, then charts initialize with fallback HTML numbers.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46703"/>
            <a:ext cx="11460175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46703"/>
            <a:ext cx="201168" cy="969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19855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Windows UTF-8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70C0"/>
                </a:solidFill>
                <a:latin typeface="Calibri"/>
              </a:rPr>
              <a:t>Problem: </a:t>
            </a:r>
            <a:r>
              <a:rPr sz="1100">
                <a:solidFill>
                  <a:srgbClr val="141E32"/>
                </a:solidFill>
                <a:latin typeface="Calibri"/>
              </a:rPr>
              <a:t>Python's cp1252 terminal encoding raised UnicodeEncodeError for emoji-containing print statements.   </a:t>
            </a:r>
            <a:r>
              <a:rPr b="1" sz="1100">
                <a:solidFill>
                  <a:srgbClr val="00B074"/>
                </a:solidFill>
                <a:latin typeface="Calibri"/>
              </a:rPr>
              <a:t>Solution: </a:t>
            </a:r>
            <a:r>
              <a:rPr sz="1100">
                <a:solidFill>
                  <a:srgbClr val="141E32"/>
                </a:solidFill>
                <a:latin typeface="Calibri"/>
              </a:rPr>
              <a:t>Added explicit sys.stdout UTF-8 stream override and replaced emojis with ASCII placeholders.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389120"/>
            <a:ext cx="11460175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201168" cy="969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622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Client-Side ML Mirror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791456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70C0"/>
                </a:solidFill>
                <a:latin typeface="Calibri"/>
              </a:rPr>
              <a:t>Problem: </a:t>
            </a:r>
            <a:r>
              <a:rPr sz="1100">
                <a:solidFill>
                  <a:srgbClr val="141E32"/>
                </a:solidFill>
                <a:latin typeface="Calibri"/>
              </a:rPr>
              <a:t>Replicating trained XGBoost logic in pure JS required careful coefficient matching.   </a:t>
            </a:r>
            <a:r>
              <a:rPr b="1" sz="1100">
                <a:solidFill>
                  <a:srgbClr val="00B074"/>
                </a:solidFill>
                <a:latin typeface="Calibri"/>
              </a:rPr>
              <a:t>Solution: </a:t>
            </a:r>
            <a:r>
              <a:rPr sz="1100">
                <a:solidFill>
                  <a:srgbClr val="141E32"/>
                </a:solidFill>
                <a:latin typeface="Calibri"/>
              </a:rPr>
              <a:t>Extracted feature weights from model inspection; validated JS output against Python predictions.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431536"/>
            <a:ext cx="11460175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31536"/>
            <a:ext cx="201168" cy="969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04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5A"/>
                </a:solidFill>
                <a:latin typeface="Calibri"/>
              </a:defRPr>
            </a:pPr>
            <a:r>
              <a:t>CSV Batch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8338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070C0"/>
                </a:solidFill>
                <a:latin typeface="Calibri"/>
              </a:rPr>
              <a:t>Problem: </a:t>
            </a:r>
            <a:r>
              <a:rPr sz="1100">
                <a:solidFill>
                  <a:srgbClr val="141E32"/>
                </a:solidFill>
                <a:latin typeface="Calibri"/>
              </a:rPr>
              <a:t>Parsing large CSV files in-browser caused main-thread UI freezes.   </a:t>
            </a:r>
            <a:r>
              <a:rPr b="1" sz="1100">
                <a:solidFill>
                  <a:srgbClr val="00B074"/>
                </a:solidFill>
                <a:latin typeface="Calibri"/>
              </a:rPr>
              <a:t>Solution: </a:t>
            </a:r>
            <a:r>
              <a:rPr sz="1100">
                <a:solidFill>
                  <a:srgbClr val="141E32"/>
                </a:solidFill>
                <a:latin typeface="Calibri"/>
              </a:rPr>
              <a:t>Implemented chunked record processing with setTimeout yielding to keep the UI responsive.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Internship Learning Outcomes &amp; Skills Gained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Technical competencies and professional growth from this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5669280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316736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 Regression Mastery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755648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Hands-on XGBoost + Scikit-Learn pipeline construction, hyperparameter tuning, cross-validation, and Joblib model serialization.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261872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261872"/>
            <a:ext cx="5669280" cy="402336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16736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Explainable AI (XAI)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55648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Designed and implemented SHAP-style feature attribution making ML predictions interpretable for non-technical HR stakeholders.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017520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669280" cy="402336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072384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Full-Stack Web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511296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Built a production-quality static web app with HTML5, Glassmorphism CSS3, ES6+ JavaScript, and Chart.js data visualizations.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017520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3017520"/>
            <a:ext cx="5669280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72384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11296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Cleaned, encoded, and scaled benchmark salary datasets; designed a reproducible preprocessing pipeline using Scikit-Learn transformers.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773168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0B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773168"/>
            <a:ext cx="5669280" cy="402336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828032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GitHub DevOps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266944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Practiced Git version control, branch management, pull requests, and cloud static hosting deployment on GitHub Pages.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773168"/>
            <a:ext cx="566928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0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773168"/>
            <a:ext cx="5669280" cy="402336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828032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Problem-Solving Mindset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66944"/>
            <a:ext cx="53400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41E32"/>
                </a:solidFill>
                <a:latin typeface="Calibri"/>
              </a:defRPr>
            </a:pPr>
            <a:r>
              <a:t>Diagnosed and resolved encoding bugs, async race conditions, and cross-platform issues through systematic debugging and iteration.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0F0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Future Enhancements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0F0"/>
                </a:solidFill>
                <a:latin typeface="Calibri"/>
              </a:defRPr>
            </a:pPr>
            <a:r>
              <a:t>Planned improvements to evolve this into an enterprise-grade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  |  18 June 2025 – 30 July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06424"/>
            <a:ext cx="64008" cy="5458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61872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61872"/>
            <a:ext cx="182880" cy="14813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Real Dataset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737360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Replace synthetic training data with anonymized Glassdoor and LinkedIn salary datasets for higher real-world prediction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261872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261872"/>
            <a:ext cx="182880" cy="148132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13533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FastAPI REST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737360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Deploy the trained XGBoost model as a FastAPI microservice enabling seamless integration with enterprise HRMS and ATS platforms.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34639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39"/>
            <a:ext cx="182880" cy="14813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926079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True SHAP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310127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Replace the client-side SHAP approximation with the official shap Python library for mathematically exact Shapley value computation.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834639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834639"/>
            <a:ext cx="182880" cy="148132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2926079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NLP Resume Parser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310127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Add spaCy / HuggingFace-based resume parsing to auto-populate all predictor input fields from uploaded candidate PDF resumes.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407408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407408"/>
            <a:ext cx="182880" cy="14813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React Native Mobile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82896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Develop a React Native mobile app with on-device ML inference for real-time salary benchmarking without internet connectivity.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407408"/>
            <a:ext cx="56692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407408"/>
            <a:ext cx="182880" cy="1481328"/>
          </a:xfrm>
          <a:prstGeom prst="rect">
            <a:avLst/>
          </a:prstGeom>
          <a:solidFill>
            <a:srgbClr val="00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449884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HR Analytics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4536" y="4882896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Build a multi-tenant company dashboard for HR teams to compare internal salary distributions against real-time market predictions.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980176"/>
            <a:ext cx="11460175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980176"/>
            <a:ext cx="182880" cy="14813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071616"/>
            <a:ext cx="110486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85A"/>
                </a:solidFill>
                <a:latin typeface="Calibri"/>
              </a:defRPr>
            </a:pPr>
            <a:r>
              <a:t>LLM Career Coach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55664"/>
            <a:ext cx="11048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1E32"/>
                </a:solidFill>
                <a:latin typeface="Calibri"/>
              </a:defRPr>
            </a:pPr>
            <a:r>
              <a:t>Integrate Gemini / GPT-4o to generate personalized, step-by-step career growth roadmaps based on individual predicted salary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F0"/>
                </a:solidFill>
                <a:latin typeface="Calibri"/>
              </a:defRPr>
            </a:pPr>
            <a:r>
              <a:t>EDUNET FOUNDATION   |   AICTE   |   IBM SKILLSBUILD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800" b="0">
                <a:solidFill>
                  <a:srgbClr val="00B0F0"/>
                </a:solidFill>
                <a:latin typeface="Calibri"/>
              </a:defRPr>
            </a:pPr>
            <a:r>
              <a:t>Questions &amp; Feedback Are Most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743200"/>
            <a:ext cx="6705295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9448495" cy="1234440"/>
          </a:xfrm>
          <a:prstGeom prst="roundRect">
            <a:avLst>
              <a:gd name="adj" fmla="val 4000"/>
            </a:avLst>
          </a:prstGeom>
          <a:solidFill>
            <a:srgbClr val="143264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999232"/>
            <a:ext cx="9082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000"/>
                </a:solidFill>
                <a:latin typeface="Calibri"/>
              </a:defRPr>
            </a:pPr>
            <a:r>
              <a:t>Project:  Employee Earnings Calculator  —  ML-Powered Salary Intelligence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38144"/>
            <a:ext cx="90827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7EB"/>
                </a:solidFill>
                <a:latin typeface="Calibri"/>
              </a:defRPr>
            </a:pPr>
            <a:r>
              <a:t>XGBoost | 93.8% R² Accuracy | SHAP Explainability | Glassmorphism UI | Batch CSV | Multi-Currency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79392"/>
            <a:ext cx="4389120" cy="1920240"/>
          </a:xfrm>
          <a:prstGeom prst="roundRect">
            <a:avLst>
              <a:gd name="adj" fmla="val 4000"/>
            </a:avLst>
          </a:prstGeom>
          <a:solidFill>
            <a:srgbClr val="143264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407408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F0"/>
                </a:solidFill>
                <a:latin typeface="Calibri"/>
              </a:defRPr>
            </a:pPr>
            <a:r>
              <a:t>Student Details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Name: </a:t>
            </a:r>
            <a:r>
              <a:rPr sz="1150">
                <a:solidFill>
                  <a:srgbClr val="FFFFFF"/>
                </a:solidFill>
                <a:latin typeface="Calibri"/>
              </a:rPr>
              <a:t>Sanjana Chirutha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STU ID: </a:t>
            </a:r>
            <a:r>
              <a:rPr sz="1150">
                <a:solidFill>
                  <a:srgbClr val="FFFFFF"/>
                </a:solidFill>
                <a:latin typeface="Calibri"/>
              </a:rPr>
              <a:t>STU6817962b86d921746376235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Branch: </a:t>
            </a:r>
            <a:r>
              <a:rPr sz="1150">
                <a:solidFill>
                  <a:srgbClr val="FFFFFF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79392"/>
            <a:ext cx="4389120" cy="1920240"/>
          </a:xfrm>
          <a:prstGeom prst="roundRect">
            <a:avLst>
              <a:gd name="adj" fmla="val 4000"/>
            </a:avLst>
          </a:prstGeom>
          <a:solidFill>
            <a:srgbClr val="143264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07408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F0"/>
                </a:solidFill>
                <a:latin typeface="Calibri"/>
              </a:defRPr>
            </a:pPr>
            <a:r>
              <a:t>Program &amp; Links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Program: </a:t>
            </a:r>
            <a:r>
              <a:rPr sz="1150">
                <a:solidFill>
                  <a:srgbClr val="FFFFFF"/>
                </a:solidFill>
                <a:latin typeface="Calibri"/>
              </a:rPr>
              <a:t>6-Week Virtual AI &amp; ML Internship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Period: </a:t>
            </a:r>
            <a:r>
              <a:rPr sz="1150">
                <a:solidFill>
                  <a:srgbClr val="FFFFFF"/>
                </a:solidFill>
                <a:latin typeface="Calibri"/>
              </a:rPr>
              <a:t>18 June 2025 – 30 July 2025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GitHub: </a:t>
            </a:r>
            <a:r>
              <a:rPr sz="1150">
                <a:solidFill>
                  <a:srgbClr val="FFFFFF"/>
                </a:solidFill>
                <a:latin typeface="Calibri"/>
              </a:rPr>
              <a:t>github.com/Sanjana-Chirutha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C8D7EB"/>
                </a:solidFill>
                <a:latin typeface="Calibri"/>
              </a:rPr>
              <a:t>Live App: </a:t>
            </a:r>
            <a:r>
              <a:rPr sz="1150">
                <a:solidFill>
                  <a:srgbClr val="FFFFFF"/>
                </a:solidFill>
                <a:latin typeface="Calibri"/>
              </a:rPr>
              <a:t>sanjana-chirutha.github.io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B0F0"/>
                </a:solidFill>
                <a:latin typeface="Calibri"/>
              </a:defRPr>
            </a:pPr>
            <a:r>
              <a:t>Sanjana Chirutha  |  STU6817962b86d921746376235  |  Edunet Foundation  |  AICTE  |  IBM SkillsBuild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